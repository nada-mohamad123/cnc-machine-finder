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answers one practical question: how does a buyer choose a CNC machine for a given budget and size? We collected the data ourselves, cleaned it, analysed it with SQL, and built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buyer must shortlist machines before asking suppliers for a quotation. Today that means opening many pages, converting units by hand, and trusting prices that are mostly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whole project answers. Everything after this slide, the data, the SQL and the dashboard, exists to support a buyer who has a budget and a minimum machine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scraped the website page by page. The scraper saves after every machine, retries failed pages and logs failed URLs. We collected 6 of the website’s 19 categories, so our conclusions apply to those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scraping, cleaning, a quality pass, SQL analysis, an exploration notebook, the dashboard, and delivery. Every cleaning step starts from the raw file, so anyone can re-run the project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took most of the effort. The key rule: never guess. If a website page does not publish a value, the cell stays empty. Extreme machines are real, for example large gantry machines, so they are flagged and not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covers coverage, medians, price bands, manufacturer comparisons, data checks and the machine finder. Query 7 is the finder in SQL form: a budget plus minimum size gives a shortlist.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is the strongest driver of price. Lathes have the lowest median at 200 thousand dollars, boring machines the highest at 950 thousand. Remember that most of these prices are estimates from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machine, one panel per category, both axes on a log scale. Bigger travel and heavier machines cost more, with rank correlations of about 0.75 and 0.74. Spindle speed alone says little about price, at about 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possible. Example: budget 100 to 500 thousand dollars, rank by closest to budget. The table shows low and high price, travel in X, Y and Z, weight and a link to the source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state the limits openly. The conclusions apply to the six collected categories. Prices are website estimates, so the dashboard is for shortlisting and comparing, and a real quotation is still needed before buying.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run the dashboard live or show the SQL queries and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8A5D"/>
                </a:solidFill>
                <a:latin typeface="IBM Plex Sans" pitchFamily="34" charset="0"/>
                <a:ea typeface="IBM Plex Sans" pitchFamily="34" charset="-122"/>
                <a:cs typeface="IBM Plex Sans" pitchFamily="34" charset="-120"/>
              </a:rPr>
              <a:t>DATA PROJECT · WEB SCRAPING, SQL AND DASHBOARD</a:t>
            </a:r>
            <a:endParaRPr lang="en-US" sz="1400" dirty="0"/>
          </a:p>
        </p:txBody>
      </p:sp>
      <p:sp>
        <p:nvSpPr>
          <p:cNvPr id="3" name="Text 1"/>
          <p:cNvSpPr/>
          <p:nvPr>
            <p:ph type="title"/>
          </p:nvPr>
        </p:nvSpPr>
        <p:spPr>
          <a:xfrm>
            <a:off x="812800" y="2510790"/>
            <a:ext cx="10883392" cy="932180"/>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5F4EF"/>
                </a:solidFill>
                <a:latin typeface="Rubik" pitchFamily="34" charset="0"/>
                <a:ea typeface="Rubik" pitchFamily="34" charset="-122"/>
                <a:cs typeface="Rubik" pitchFamily="34" charset="-120"/>
              </a:rPr>
              <a:t>CNC Machine Finder</a:t>
            </a:r>
            <a:endParaRPr lang="en-US" sz="6800" dirty="0"/>
          </a:p>
        </p:txBody>
      </p:sp>
      <p:sp>
        <p:nvSpPr>
          <p:cNvPr id="4" name="Text 2"/>
          <p:cNvSpPr/>
          <p:nvPr/>
        </p:nvSpPr>
        <p:spPr>
          <a:xfrm>
            <a:off x="812800" y="3620770"/>
            <a:ext cx="91567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DC"/>
                </a:solidFill>
                <a:latin typeface="IBM Plex Sans" pitchFamily="34" charset="0"/>
                <a:ea typeface="IBM Plex Sans" pitchFamily="34" charset="-122"/>
                <a:cs typeface="IBM Plex Sans" pitchFamily="34" charset="-120"/>
              </a:rPr>
              <a:t>How a buyer can choose a CNC machine by budget and size, using 3,955 machine listings.</a:t>
            </a:r>
            <a:endParaRPr lang="en-US" sz="22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BF"/>
                </a:solidFill>
                <a:latin typeface="IBM Plex Sans" pitchFamily="34" charset="0"/>
                <a:ea typeface="IBM Plex Sans" pitchFamily="34" charset="-122"/>
                <a:cs typeface="IBM Plex Sans" pitchFamily="34" charset="-120"/>
              </a:rPr>
              <a:t>Data source: machinetoolindex.com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Comparing CNC machines takes too much work</a:t>
            </a:r>
            <a:endParaRPr lang="en-US" sz="3600" dirty="0"/>
          </a:p>
        </p:txBody>
      </p:sp>
      <p:sp>
        <p:nvSpPr>
          <p:cNvPr id="3" name="Shape 1"/>
          <p:cNvSpPr/>
          <p:nvPr/>
        </p:nvSpPr>
        <p:spPr>
          <a:xfrm>
            <a:off x="815975" y="1674495"/>
            <a:ext cx="3380264" cy="2240280"/>
          </a:xfrm>
          <a:prstGeom prst="roundRect">
            <a:avLst>
              <a:gd name="adj" fmla="val 4393"/>
            </a:avLst>
          </a:prstGeom>
          <a:solidFill>
            <a:srgbClr val="FFFFFF"/>
          </a:solidFill>
          <a:ln w="6350">
            <a:solidFill>
              <a:srgbClr val="DAD8D0"/>
            </a:solidFill>
            <a:prstDash val="solid"/>
          </a:ln>
        </p:spPr>
      </p:sp>
      <p:sp>
        <p:nvSpPr>
          <p:cNvPr id="4" name="Text 2"/>
          <p:cNvSpPr/>
          <p:nvPr/>
        </p:nvSpPr>
        <p:spPr>
          <a:xfrm>
            <a:off x="1097280" y="1955800"/>
            <a:ext cx="29021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5CAB"/>
                </a:solidFill>
                <a:latin typeface="IBM Plex Sans" pitchFamily="34" charset="0"/>
                <a:ea typeface="IBM Plex Sans" pitchFamily="34" charset="-122"/>
                <a:cs typeface="IBM Plex Sans" pitchFamily="34" charset="-120"/>
              </a:rPr>
              <a:t>1 · Scattered</a:t>
            </a:r>
            <a:endParaRPr lang="en-US" sz="1400" dirty="0"/>
          </a:p>
        </p:txBody>
      </p:sp>
      <p:sp>
        <p:nvSpPr>
          <p:cNvPr id="5" name="Text 3"/>
          <p:cNvSpPr/>
          <p:nvPr/>
        </p:nvSpPr>
        <p:spPr>
          <a:xfrm>
            <a:off x="1097280" y="2331720"/>
            <a:ext cx="3095784"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02B"/>
                </a:solidFill>
                <a:latin typeface="Rubik" pitchFamily="34" charset="0"/>
                <a:ea typeface="Rubik" pitchFamily="34" charset="-122"/>
                <a:cs typeface="Rubik" pitchFamily="34" charset="-120"/>
              </a:rPr>
              <a:t>Thousands of pages</a:t>
            </a:r>
            <a:endParaRPr lang="en-US" sz="2200" dirty="0"/>
          </a:p>
        </p:txBody>
      </p:sp>
      <p:sp>
        <p:nvSpPr>
          <p:cNvPr id="6" name="Text 4"/>
          <p:cNvSpPr/>
          <p:nvPr/>
        </p:nvSpPr>
        <p:spPr>
          <a:xfrm>
            <a:off x="1097280" y="2780030"/>
            <a:ext cx="29021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1"/>
                </a:solidFill>
                <a:latin typeface="IBM Plex Sans" pitchFamily="34" charset="0"/>
                <a:ea typeface="IBM Plex Sans" pitchFamily="34" charset="-122"/>
                <a:cs typeface="IBM Plex Sans" pitchFamily="34" charset="-120"/>
              </a:rPr>
              <a:t>Every machine has its own page. There is no single table to compare them side by side.</a:t>
            </a:r>
            <a:endParaRPr lang="en-US" sz="1600" dirty="0"/>
          </a:p>
        </p:txBody>
      </p:sp>
      <p:sp>
        <p:nvSpPr>
          <p:cNvPr id="7" name="Shape 5"/>
          <p:cNvSpPr/>
          <p:nvPr/>
        </p:nvSpPr>
        <p:spPr>
          <a:xfrm>
            <a:off x="4405789" y="1674495"/>
            <a:ext cx="3380343" cy="2240280"/>
          </a:xfrm>
          <a:prstGeom prst="roundRect">
            <a:avLst>
              <a:gd name="adj" fmla="val 4393"/>
            </a:avLst>
          </a:prstGeom>
          <a:solidFill>
            <a:srgbClr val="FFFFFF"/>
          </a:solidFill>
          <a:ln w="6350">
            <a:solidFill>
              <a:srgbClr val="DAD8D0"/>
            </a:solidFill>
            <a:prstDash val="solid"/>
          </a:ln>
        </p:spPr>
      </p:sp>
      <p:sp>
        <p:nvSpPr>
          <p:cNvPr id="8" name="Text 6"/>
          <p:cNvSpPr/>
          <p:nvPr/>
        </p:nvSpPr>
        <p:spPr>
          <a:xfrm>
            <a:off x="4687094" y="1955800"/>
            <a:ext cx="29022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5CAB"/>
                </a:solidFill>
                <a:latin typeface="IBM Plex Sans" pitchFamily="34" charset="0"/>
                <a:ea typeface="IBM Plex Sans" pitchFamily="34" charset="-122"/>
                <a:cs typeface="IBM Plex Sans" pitchFamily="34" charset="-120"/>
              </a:rPr>
              <a:t>2 · Messy</a:t>
            </a:r>
            <a:endParaRPr lang="en-US" sz="1400" dirty="0"/>
          </a:p>
        </p:txBody>
      </p:sp>
      <p:sp>
        <p:nvSpPr>
          <p:cNvPr id="9" name="Text 7"/>
          <p:cNvSpPr/>
          <p:nvPr/>
        </p:nvSpPr>
        <p:spPr>
          <a:xfrm>
            <a:off x="4687094" y="2331720"/>
            <a:ext cx="2902265"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02B"/>
                </a:solidFill>
                <a:latin typeface="Rubik" pitchFamily="34" charset="0"/>
                <a:ea typeface="Rubik" pitchFamily="34" charset="-122"/>
                <a:cs typeface="Rubik" pitchFamily="34" charset="-120"/>
              </a:rPr>
              <a:t>Mixed units</a:t>
            </a:r>
            <a:endParaRPr lang="en-US" sz="2200" dirty="0"/>
          </a:p>
        </p:txBody>
      </p:sp>
      <p:sp>
        <p:nvSpPr>
          <p:cNvPr id="10" name="Text 8"/>
          <p:cNvSpPr/>
          <p:nvPr/>
        </p:nvSpPr>
        <p:spPr>
          <a:xfrm>
            <a:off x="4687094" y="2780030"/>
            <a:ext cx="2902265"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1"/>
                </a:solidFill>
                <a:latin typeface="IBM Plex Sans" pitchFamily="34" charset="0"/>
                <a:ea typeface="IBM Plex Sans" pitchFamily="34" charset="-122"/>
                <a:cs typeface="IBM Plex Sans" pitchFamily="34" charset="-120"/>
              </a:rPr>
              <a:t>Specs are text, such as 15 in (381 mm), 15 hp (11.2 kW) and 100 lb (45.4 kg).</a:t>
            </a:r>
            <a:endParaRPr lang="en-US" sz="1600" dirty="0"/>
          </a:p>
        </p:txBody>
      </p:sp>
      <p:sp>
        <p:nvSpPr>
          <p:cNvPr id="11" name="Shape 9"/>
          <p:cNvSpPr/>
          <p:nvPr/>
        </p:nvSpPr>
        <p:spPr>
          <a:xfrm>
            <a:off x="7995682" y="1674495"/>
            <a:ext cx="3380343" cy="2240280"/>
          </a:xfrm>
          <a:prstGeom prst="roundRect">
            <a:avLst>
              <a:gd name="adj" fmla="val 4393"/>
            </a:avLst>
          </a:prstGeom>
          <a:solidFill>
            <a:srgbClr val="FFFFFF"/>
          </a:solidFill>
          <a:ln w="6350">
            <a:solidFill>
              <a:srgbClr val="DAD8D0"/>
            </a:solidFill>
            <a:prstDash val="solid"/>
          </a:ln>
        </p:spPr>
      </p:sp>
      <p:sp>
        <p:nvSpPr>
          <p:cNvPr id="12" name="Text 10"/>
          <p:cNvSpPr/>
          <p:nvPr/>
        </p:nvSpPr>
        <p:spPr>
          <a:xfrm>
            <a:off x="8276987" y="1955800"/>
            <a:ext cx="29022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5CAB"/>
                </a:solidFill>
                <a:latin typeface="IBM Plex Sans" pitchFamily="34" charset="0"/>
                <a:ea typeface="IBM Plex Sans" pitchFamily="34" charset="-122"/>
                <a:cs typeface="IBM Plex Sans" pitchFamily="34" charset="-120"/>
              </a:rPr>
              <a:t>3 · Uncertain</a:t>
            </a:r>
            <a:endParaRPr lang="en-US" sz="1400" dirty="0"/>
          </a:p>
        </p:txBody>
      </p:sp>
      <p:sp>
        <p:nvSpPr>
          <p:cNvPr id="13" name="Text 11"/>
          <p:cNvSpPr/>
          <p:nvPr/>
        </p:nvSpPr>
        <p:spPr>
          <a:xfrm>
            <a:off x="8276987" y="2331720"/>
            <a:ext cx="2902265"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02B"/>
                </a:solidFill>
                <a:latin typeface="Rubik" pitchFamily="34" charset="0"/>
                <a:ea typeface="Rubik" pitchFamily="34" charset="-122"/>
                <a:cs typeface="Rubik" pitchFamily="34" charset="-120"/>
              </a:rPr>
              <a:t>Estimated prices</a:t>
            </a:r>
            <a:endParaRPr lang="en-US" sz="2200" dirty="0"/>
          </a:p>
        </p:txBody>
      </p:sp>
      <p:sp>
        <p:nvSpPr>
          <p:cNvPr id="14" name="Text 12"/>
          <p:cNvSpPr/>
          <p:nvPr/>
        </p:nvSpPr>
        <p:spPr>
          <a:xfrm>
            <a:off x="8276987" y="2780030"/>
            <a:ext cx="2902265"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1"/>
                </a:solidFill>
                <a:latin typeface="IBM Plex Sans" pitchFamily="34" charset="0"/>
                <a:ea typeface="IBM Plex Sans" pitchFamily="34" charset="-122"/>
                <a:cs typeface="IBM Plex Sans" pitchFamily="34" charset="-120"/>
              </a:rPr>
              <a:t>95% of the prices we found are the website’s own estimates, not quotes.</a:t>
            </a:r>
            <a:endParaRPr lang="en-US" sz="1600" dirty="0"/>
          </a:p>
        </p:txBody>
      </p:sp>
      <p:sp>
        <p:nvSpPr>
          <p:cNvPr id="15" name="Text 13"/>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Source: machinetoolindex.com</a:t>
            </a:r>
            <a:endParaRPr lang="en-US" sz="1200" dirty="0"/>
          </a:p>
        </p:txBody>
      </p:sp>
      <p:sp>
        <p:nvSpPr>
          <p:cNvPr id="16" name="Text 14"/>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5CAB"/>
        </a:solidFill>
      </p:bgPr>
    </p:bg>
    <p:spTree>
      <p:nvGrpSpPr>
        <p:cNvPr id="1" name=""/>
        <p:cNvGrpSpPr/>
        <p:nvPr/>
      </p:nvGrpSpPr>
      <p:grpSpPr>
        <a:xfrm>
          <a:off x="0" y="0"/>
          <a:ext cx="0" cy="0"/>
          <a:chOff x="0" y="0"/>
          <a:chExt cx="0" cy="0"/>
        </a:xfrm>
      </p:grpSpPr>
      <p:sp>
        <p:nvSpPr>
          <p:cNvPr id="2" name="Text 0"/>
          <p:cNvSpPr/>
          <p:nvPr/>
        </p:nvSpPr>
        <p:spPr>
          <a:xfrm>
            <a:off x="812800" y="1268016"/>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FE0F6"/>
                </a:solidFill>
                <a:latin typeface="IBM Plex Sans" pitchFamily="34" charset="0"/>
                <a:ea typeface="IBM Plex Sans" pitchFamily="34" charset="-122"/>
                <a:cs typeface="IBM Plex Sans" pitchFamily="34" charset="-120"/>
              </a:rPr>
              <a:t>THE BUSINESS QUESTION</a:t>
            </a:r>
            <a:endParaRPr lang="en-US" sz="1400" dirty="0"/>
          </a:p>
        </p:txBody>
      </p:sp>
      <p:sp>
        <p:nvSpPr>
          <p:cNvPr id="3" name="Text 1"/>
          <p:cNvSpPr/>
          <p:nvPr>
            <p:ph type="title"/>
          </p:nvPr>
        </p:nvSpPr>
        <p:spPr>
          <a:xfrm>
            <a:off x="812800" y="1923335"/>
            <a:ext cx="9810750" cy="1817529"/>
          </a:xfrm>
          <a:prstGeom prst="rect">
            <a:avLst/>
          </a:prstGeom>
          <a:noFill/>
          <a:ln/>
        </p:spPr>
        <p:txBody>
          <a:bodyPr wrap="square" lIns="0" tIns="0" rIns="0" bIns="0" rtlCol="0" anchor="t">
            <a:normAutofit/>
          </a:bodyPr>
          <a:lstStyle/>
          <a:p>
            <a:pPr algn="l" indent="0" marL="0">
              <a:lnSpc>
                <a:spcPts val="4704"/>
              </a:lnSpc>
              <a:buNone/>
            </a:pPr>
            <a:r>
              <a:rPr lang="en-US" sz="4200" b="1" i="0" dirty="0">
                <a:solidFill>
                  <a:srgbClr val="FFFFFF"/>
                </a:solidFill>
                <a:latin typeface="Rubik" pitchFamily="34" charset="0"/>
                <a:ea typeface="Rubik" pitchFamily="34" charset="-122"/>
                <a:cs typeface="Rubik" pitchFamily="34" charset="-120"/>
              </a:rPr>
              <a:t>How can a buyer choose the most suitable CNC machine for a given budget and size?</a:t>
            </a:r>
            <a:endParaRPr lang="en-US" sz="4200" dirty="0"/>
          </a:p>
        </p:txBody>
      </p:sp>
      <p:sp>
        <p:nvSpPr>
          <p:cNvPr id="4" name="Text 2"/>
          <p:cNvSpPr/>
          <p:nvPr/>
        </p:nvSpPr>
        <p:spPr>
          <a:xfrm>
            <a:off x="812800" y="4121865"/>
            <a:ext cx="915670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EDFA"/>
                </a:solidFill>
                <a:latin typeface="IBM Plex Sans" pitchFamily="34" charset="0"/>
                <a:ea typeface="IBM Plex Sans" pitchFamily="34" charset="-122"/>
                <a:cs typeface="IBM Plex Sans" pitchFamily="34" charset="-120"/>
              </a:rPr>
              <a:t>Who needs it:</a:t>
            </a:r>
            <a:r>
              <a:rPr lang="en-US" sz="1600" dirty="0">
                <a:solidFill>
                  <a:srgbClr val="E3EDFA"/>
                </a:solidFill>
                <a:latin typeface="IBM Plex Sans" pitchFamily="34" charset="0"/>
                <a:ea typeface="IBM Plex Sans" pitchFamily="34" charset="-122"/>
                <a:cs typeface="IBM Plex Sans" pitchFamily="34" charset="-120"/>
              </a:rPr>
              <a:t> workshop owners and purchasing engineers who shortlist machines before asking suppliers for quotes.</a:t>
            </a:r>
            <a:endParaRPr lang="en-US" sz="1600" dirty="0"/>
          </a:p>
        </p:txBody>
      </p:sp>
      <p:sp>
        <p:nvSpPr>
          <p:cNvPr id="5" name="Text 3"/>
          <p:cNvSpPr/>
          <p:nvPr/>
        </p:nvSpPr>
        <p:spPr>
          <a:xfrm>
            <a:off x="812800" y="4817825"/>
            <a:ext cx="915670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EDFA"/>
                </a:solidFill>
                <a:latin typeface="IBM Plex Sans" pitchFamily="34" charset="0"/>
                <a:ea typeface="IBM Plex Sans" pitchFamily="34" charset="-122"/>
                <a:cs typeface="IBM Plex Sans" pitchFamily="34" charset="-120"/>
              </a:rPr>
              <a:t>Also useful for:</a:t>
            </a:r>
            <a:r>
              <a:rPr lang="en-US" sz="1600" dirty="0">
                <a:solidFill>
                  <a:srgbClr val="E3EDFA"/>
                </a:solidFill>
                <a:latin typeface="IBM Plex Sans" pitchFamily="34" charset="0"/>
                <a:ea typeface="IBM Plex Sans" pitchFamily="34" charset="-122"/>
                <a:cs typeface="IBM Plex Sans" pitchFamily="34" charset="-120"/>
              </a:rPr>
              <a:t> students and analysts who want to see how price relates to size, weight and power.</a:t>
            </a:r>
            <a:endParaRPr lang="en-US" sz="1600" dirty="0"/>
          </a:p>
        </p:txBody>
      </p:sp>
      <p:sp>
        <p:nvSpPr>
          <p:cNvPr id="6" name="Text 4"/>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6"/>
                </a:solidFill>
                <a:latin typeface="IBM Plex Sans" pitchFamily="34" charset="0"/>
                <a:ea typeface="IBM Plex Sans" pitchFamily="34" charset="-122"/>
                <a:cs typeface="IBM Plex Sans" pitchFamily="34" charset="-120"/>
              </a:rPr>
              <a:t>CNC Machine Finder · Source: machinetoolindex.com</a:t>
            </a:r>
            <a:endParaRPr lang="en-US" sz="1200" dirty="0"/>
          </a:p>
        </p:txBody>
      </p:sp>
      <p:sp>
        <p:nvSpPr>
          <p:cNvPr id="7" name="Text 5"/>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The data: 3,955 machines from one website</a:t>
            </a:r>
            <a:endParaRPr lang="en-US" sz="3600" dirty="0"/>
          </a:p>
        </p:txBody>
      </p:sp>
      <p:sp>
        <p:nvSpPr>
          <p:cNvPr id="3" name="Shape 1"/>
          <p:cNvSpPr/>
          <p:nvPr/>
        </p:nvSpPr>
        <p:spPr>
          <a:xfrm>
            <a:off x="815975" y="1623695"/>
            <a:ext cx="5175250" cy="1205230"/>
          </a:xfrm>
          <a:prstGeom prst="roundRect">
            <a:avLst>
              <a:gd name="adj" fmla="val 8166"/>
            </a:avLst>
          </a:prstGeom>
          <a:solidFill>
            <a:srgbClr val="FFFFFF"/>
          </a:solidFill>
          <a:ln w="6350">
            <a:solidFill>
              <a:srgbClr val="DAD8D0"/>
            </a:solidFill>
            <a:prstDash val="solid"/>
          </a:ln>
        </p:spPr>
      </p:sp>
      <p:sp>
        <p:nvSpPr>
          <p:cNvPr id="4" name="Text 2"/>
          <p:cNvSpPr/>
          <p:nvPr/>
        </p:nvSpPr>
        <p:spPr>
          <a:xfrm>
            <a:off x="1071880" y="1879600"/>
            <a:ext cx="2223770"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1C5CAB"/>
                </a:solidFill>
                <a:latin typeface="Rubik" pitchFamily="34" charset="0"/>
                <a:ea typeface="Rubik" pitchFamily="34" charset="-122"/>
                <a:cs typeface="Rubik" pitchFamily="34" charset="-120"/>
              </a:rPr>
              <a:t>3,955</a:t>
            </a:r>
            <a:endParaRPr lang="en-US" sz="5200" dirty="0"/>
          </a:p>
        </p:txBody>
      </p:sp>
      <p:sp>
        <p:nvSpPr>
          <p:cNvPr id="5" name="Text 3"/>
          <p:cNvSpPr/>
          <p:nvPr/>
        </p:nvSpPr>
        <p:spPr>
          <a:xfrm>
            <a:off x="3434080" y="1962150"/>
            <a:ext cx="2370277"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B4651"/>
                </a:solidFill>
                <a:latin typeface="IBM Plex Sans" pitchFamily="34" charset="0"/>
                <a:ea typeface="IBM Plex Sans" pitchFamily="34" charset="-122"/>
                <a:cs typeface="IBM Plex Sans" pitchFamily="34" charset="-120"/>
              </a:rPr>
              <a:t>machines, each with its own specification page</a:t>
            </a:r>
            <a:endParaRPr lang="en-US" sz="1600" dirty="0"/>
          </a:p>
        </p:txBody>
      </p:sp>
      <p:sp>
        <p:nvSpPr>
          <p:cNvPr id="6" name="Shape 4"/>
          <p:cNvSpPr/>
          <p:nvPr/>
        </p:nvSpPr>
        <p:spPr>
          <a:xfrm>
            <a:off x="6200775" y="1623695"/>
            <a:ext cx="5175250" cy="1205230"/>
          </a:xfrm>
          <a:prstGeom prst="roundRect">
            <a:avLst>
              <a:gd name="adj" fmla="val 8166"/>
            </a:avLst>
          </a:prstGeom>
          <a:solidFill>
            <a:srgbClr val="FFFFFF"/>
          </a:solidFill>
          <a:ln w="6350">
            <a:solidFill>
              <a:srgbClr val="DAD8D0"/>
            </a:solidFill>
            <a:prstDash val="solid"/>
          </a:ln>
        </p:spPr>
      </p:sp>
      <p:sp>
        <p:nvSpPr>
          <p:cNvPr id="7" name="Text 5"/>
          <p:cNvSpPr/>
          <p:nvPr/>
        </p:nvSpPr>
        <p:spPr>
          <a:xfrm>
            <a:off x="6456680" y="1879600"/>
            <a:ext cx="2223770"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1C5CAB"/>
                </a:solidFill>
                <a:latin typeface="Rubik" pitchFamily="34" charset="0"/>
                <a:ea typeface="Rubik" pitchFamily="34" charset="-122"/>
                <a:cs typeface="Rubik" pitchFamily="34" charset="-120"/>
              </a:rPr>
              <a:t>6/19</a:t>
            </a:r>
            <a:endParaRPr lang="en-US" sz="5200" dirty="0"/>
          </a:p>
        </p:txBody>
      </p:sp>
      <p:sp>
        <p:nvSpPr>
          <p:cNvPr id="8" name="Text 6"/>
          <p:cNvSpPr/>
          <p:nvPr/>
        </p:nvSpPr>
        <p:spPr>
          <a:xfrm>
            <a:off x="8818880" y="1962150"/>
            <a:ext cx="2370277"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B4651"/>
                </a:solidFill>
                <a:latin typeface="IBM Plex Sans" pitchFamily="34" charset="0"/>
                <a:ea typeface="IBM Plex Sans" pitchFamily="34" charset="-122"/>
                <a:cs typeface="IBM Plex Sans" pitchFamily="34" charset="-120"/>
              </a:rPr>
              <a:t>website categories collected</a:t>
            </a:r>
            <a:endParaRPr lang="en-US" sz="1600" dirty="0"/>
          </a:p>
        </p:txBody>
      </p:sp>
      <p:sp>
        <p:nvSpPr>
          <p:cNvPr id="9" name="Shape 7"/>
          <p:cNvSpPr/>
          <p:nvPr/>
        </p:nvSpPr>
        <p:spPr>
          <a:xfrm>
            <a:off x="815975" y="3038475"/>
            <a:ext cx="5175250" cy="1205230"/>
          </a:xfrm>
          <a:prstGeom prst="roundRect">
            <a:avLst>
              <a:gd name="adj" fmla="val 8166"/>
            </a:avLst>
          </a:prstGeom>
          <a:solidFill>
            <a:srgbClr val="FFFFFF"/>
          </a:solidFill>
          <a:ln w="6350">
            <a:solidFill>
              <a:srgbClr val="DAD8D0"/>
            </a:solidFill>
            <a:prstDash val="solid"/>
          </a:ln>
        </p:spPr>
      </p:sp>
      <p:sp>
        <p:nvSpPr>
          <p:cNvPr id="10" name="Text 8"/>
          <p:cNvSpPr/>
          <p:nvPr/>
        </p:nvSpPr>
        <p:spPr>
          <a:xfrm>
            <a:off x="1071880" y="3294380"/>
            <a:ext cx="2223770"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1C5CAB"/>
                </a:solidFill>
                <a:latin typeface="Rubik" pitchFamily="34" charset="0"/>
                <a:ea typeface="Rubik" pitchFamily="34" charset="-122"/>
                <a:cs typeface="Rubik" pitchFamily="34" charset="-120"/>
              </a:rPr>
              <a:t>219</a:t>
            </a:r>
            <a:endParaRPr lang="en-US" sz="5200" dirty="0"/>
          </a:p>
        </p:txBody>
      </p:sp>
      <p:sp>
        <p:nvSpPr>
          <p:cNvPr id="11" name="Text 9"/>
          <p:cNvSpPr/>
          <p:nvPr/>
        </p:nvSpPr>
        <p:spPr>
          <a:xfrm>
            <a:off x="3434080" y="3376930"/>
            <a:ext cx="2370277"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B4651"/>
                </a:solidFill>
                <a:latin typeface="IBM Plex Sans" pitchFamily="34" charset="0"/>
                <a:ea typeface="IBM Plex Sans" pitchFamily="34" charset="-122"/>
                <a:cs typeface="IBM Plex Sans" pitchFamily="34" charset="-120"/>
              </a:rPr>
              <a:t>manufacturers after merging spelling variants</a:t>
            </a:r>
            <a:endParaRPr lang="en-US" sz="1600" dirty="0"/>
          </a:p>
        </p:txBody>
      </p:sp>
      <p:sp>
        <p:nvSpPr>
          <p:cNvPr id="12" name="Shape 10"/>
          <p:cNvSpPr/>
          <p:nvPr/>
        </p:nvSpPr>
        <p:spPr>
          <a:xfrm>
            <a:off x="6200775" y="3038475"/>
            <a:ext cx="5175250" cy="1205230"/>
          </a:xfrm>
          <a:prstGeom prst="roundRect">
            <a:avLst>
              <a:gd name="adj" fmla="val 8166"/>
            </a:avLst>
          </a:prstGeom>
          <a:solidFill>
            <a:srgbClr val="FFFFFF"/>
          </a:solidFill>
          <a:ln w="6350">
            <a:solidFill>
              <a:srgbClr val="DAD8D0"/>
            </a:solidFill>
            <a:prstDash val="solid"/>
          </a:ln>
        </p:spPr>
      </p:sp>
      <p:sp>
        <p:nvSpPr>
          <p:cNvPr id="13" name="Text 11"/>
          <p:cNvSpPr/>
          <p:nvPr/>
        </p:nvSpPr>
        <p:spPr>
          <a:xfrm>
            <a:off x="6456680" y="3294380"/>
            <a:ext cx="2223770"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1C5CAB"/>
                </a:solidFill>
                <a:latin typeface="Rubik" pitchFamily="34" charset="0"/>
                <a:ea typeface="Rubik" pitchFamily="34" charset="-122"/>
                <a:cs typeface="Rubik" pitchFamily="34" charset="-120"/>
              </a:rPr>
              <a:t>1,564</a:t>
            </a:r>
            <a:endParaRPr lang="en-US" sz="5200" dirty="0"/>
          </a:p>
        </p:txBody>
      </p:sp>
      <p:sp>
        <p:nvSpPr>
          <p:cNvPr id="14" name="Text 12"/>
          <p:cNvSpPr/>
          <p:nvPr/>
        </p:nvSpPr>
        <p:spPr>
          <a:xfrm>
            <a:off x="8818880" y="3376930"/>
            <a:ext cx="2370277"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B4651"/>
                </a:solidFill>
                <a:latin typeface="IBM Plex Sans" pitchFamily="34" charset="0"/>
                <a:ea typeface="IBM Plex Sans" pitchFamily="34" charset="-122"/>
                <a:cs typeface="IBM Plex Sans" pitchFamily="34" charset="-120"/>
              </a:rPr>
              <a:t>machines with a price (39.5%)</a:t>
            </a:r>
            <a:endParaRPr lang="en-US" sz="1600" dirty="0"/>
          </a:p>
        </p:txBody>
      </p:sp>
      <p:sp>
        <p:nvSpPr>
          <p:cNvPr id="15" name="Text 13"/>
          <p:cNvSpPr/>
          <p:nvPr/>
        </p:nvSpPr>
        <p:spPr>
          <a:xfrm>
            <a:off x="812800" y="455168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Categories collected: CNC lathes, 5-axis machining centers, grinding, laser cutting, boring and gear cutting. Collected with Python, requests and BeautifulSoup.</a:t>
            </a:r>
            <a:endParaRPr lang="en-US" sz="1500" dirty="0"/>
          </a:p>
        </p:txBody>
      </p:sp>
      <p:sp>
        <p:nvSpPr>
          <p:cNvPr id="16" name="Text 1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Source: machinetoolindex.com</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509"/>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4202B"/>
                </a:solidFill>
                <a:latin typeface="Rubik" pitchFamily="34" charset="0"/>
                <a:ea typeface="Rubik" pitchFamily="34" charset="-122"/>
                <a:cs typeface="Rubik" pitchFamily="34" charset="-120"/>
              </a:rPr>
              <a:t>Workflow: from website to dashboard</a:t>
            </a:r>
            <a:endParaRPr lang="en-US" sz="3566" dirty="0"/>
          </a:p>
        </p:txBody>
      </p:sp>
      <p:sp>
        <p:nvSpPr>
          <p:cNvPr id="3" name="Shape 1"/>
          <p:cNvSpPr/>
          <p:nvPr/>
        </p:nvSpPr>
        <p:spPr>
          <a:xfrm>
            <a:off x="815975" y="1564084"/>
            <a:ext cx="10560050" cy="4274741"/>
          </a:xfrm>
          <a:prstGeom prst="roundRect">
            <a:avLst>
              <a:gd name="adj" fmla="val 2302"/>
            </a:avLst>
          </a:prstGeom>
          <a:solidFill>
            <a:srgbClr val="FFFFFF"/>
          </a:solidFill>
          <a:ln w="6350">
            <a:solidFill>
              <a:srgbClr val="DAD8D0"/>
            </a:solidFill>
            <a:prstDash val="solid"/>
          </a:ln>
        </p:spPr>
      </p:sp>
      <p:pic>
        <p:nvPicPr>
          <p:cNvPr id="4" name="Image 0" descr="Workflow diagram: website, scraping, raw data, cleaning, SQLite database, SQL analysis, notebook and dashboard, then insights and presentation">    </p:cNvPr>
          <p:cNvPicPr>
            <a:picLocks noChangeAspect="1"/>
          </p:cNvPicPr>
          <p:nvPr/>
        </p:nvPicPr>
        <p:blipFill>
          <a:blip r:embed="rId1"/>
          <a:srcRect l="-28" r="-28" t="0" b="0"/>
          <a:stretch/>
        </p:blipFill>
        <p:spPr>
          <a:xfrm>
            <a:off x="1714500" y="1667591"/>
            <a:ext cx="8763000" cy="4140200"/>
          </a:xfrm>
          <a:prstGeom prst="rect">
            <a:avLst/>
          </a:prstGeom>
        </p:spPr>
      </p:pic>
      <p:sp>
        <p:nvSpPr>
          <p:cNvPr id="5" name="Text 2"/>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Raw data is never edited, so the whole pipeline can be re-run</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Cleaning turned 5,213 raw columns into one table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82799"/>
          <a:ext cx="10556240" cy="2994660"/>
        </p:xfrm>
        <a:graphic>
          <a:graphicData uri="http://schemas.openxmlformats.org/drawingml/2006/table">
            <a:tbl>
              <a:tblPr/>
              <a:tblGrid>
                <a:gridCol w="4855870"/>
                <a:gridCol w="5700370"/>
              </a:tblGrid>
              <a:tr h="410210">
                <a:tc>
                  <a:txBody>
                    <a:bodyPr/>
                    <a:lstStyle/>
                    <a:p>
                      <a:pPr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What the raw data looked like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What we did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41021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5,213 columns, most almost empty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Kept the key specs as clean columns (29 in the final table)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Text with mixed units, e.g. 15 hp (11.2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Converted to numbers in mm, kg, kW and rpm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r h="67691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Price text, e.g. Est. $200,000 - $275,000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Split into low, high and midpoint, plus a price type: estimate or listed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226 spellings of manufacturer names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Merged into 219 names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r h="67691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Extreme values (26 prices, 17 X travel)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Flagged, not deleted. Missing values stay empty and are never guessed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Source: 03_cleaning/cleaning_report.csv</a:t>
            </a:r>
            <a:endParaRPr lang="en-US" sz="1200" dirty="0"/>
          </a:p>
        </p:txBody>
      </p:sp>
      <p:sp>
        <p:nvSpPr>
          <p:cNvPr id="5" name="Text 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34 SQL queries answer the buyer’s questions</a:t>
            </a:r>
            <a:endParaRPr lang="en-US" sz="3600" dirty="0"/>
          </a:p>
        </p:txBody>
      </p:sp>
      <p:sp>
        <p:nvSpPr>
          <p:cNvPr id="3" name="Shape 1"/>
          <p:cNvSpPr/>
          <p:nvPr/>
        </p:nvSpPr>
        <p:spPr>
          <a:xfrm>
            <a:off x="815975" y="1623696"/>
            <a:ext cx="3380264" cy="2320290"/>
          </a:xfrm>
          <a:prstGeom prst="roundRect">
            <a:avLst>
              <a:gd name="adj" fmla="val 4242"/>
            </a:avLst>
          </a:prstGeom>
          <a:solidFill>
            <a:srgbClr val="FFFFFF"/>
          </a:solidFill>
          <a:ln w="6350">
            <a:solidFill>
              <a:srgbClr val="DAD8D0"/>
            </a:solidFill>
            <a:prstDash val="solid"/>
          </a:ln>
        </p:spPr>
      </p:sp>
      <p:sp>
        <p:nvSpPr>
          <p:cNvPr id="4" name="Text 2"/>
          <p:cNvSpPr/>
          <p:nvPr/>
        </p:nvSpPr>
        <p:spPr>
          <a:xfrm>
            <a:off x="1071880" y="1879600"/>
            <a:ext cx="2954507"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470F"/>
                </a:solidFill>
                <a:latin typeface="IBM Plex Sans" pitchFamily="34" charset="0"/>
                <a:ea typeface="IBM Plex Sans" pitchFamily="34" charset="-122"/>
                <a:cs typeface="IBM Plex Sans" pitchFamily="34" charset="-120"/>
              </a:rPr>
              <a:t>QUERY 02</a:t>
            </a:r>
            <a:endParaRPr lang="en-US" sz="1300" dirty="0"/>
          </a:p>
        </p:txBody>
      </p:sp>
      <p:sp>
        <p:nvSpPr>
          <p:cNvPr id="5" name="Text 3"/>
          <p:cNvSpPr/>
          <p:nvPr/>
        </p:nvSpPr>
        <p:spPr>
          <a:xfrm>
            <a:off x="1071880" y="2225039"/>
            <a:ext cx="2954507"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Rubik" pitchFamily="34" charset="0"/>
                <a:ea typeface="Rubik" pitchFamily="34" charset="-122"/>
                <a:cs typeface="Rubik" pitchFamily="34" charset="-120"/>
              </a:rPr>
              <a:t>How many machines per category?</a:t>
            </a:r>
            <a:endParaRPr lang="en-US" sz="1800" dirty="0"/>
          </a:p>
        </p:txBody>
      </p:sp>
      <p:sp>
        <p:nvSpPr>
          <p:cNvPr id="6" name="Text 4"/>
          <p:cNvSpPr/>
          <p:nvPr/>
        </p:nvSpPr>
        <p:spPr>
          <a:xfrm>
            <a:off x="1071880" y="2887982"/>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Lathes lead with 1,673 machines, of which 694 have a price.</a:t>
            </a:r>
            <a:endParaRPr lang="en-US" sz="1500" dirty="0"/>
          </a:p>
        </p:txBody>
      </p:sp>
      <p:sp>
        <p:nvSpPr>
          <p:cNvPr id="7" name="Shape 5"/>
          <p:cNvSpPr/>
          <p:nvPr/>
        </p:nvSpPr>
        <p:spPr>
          <a:xfrm>
            <a:off x="4405789" y="1623696"/>
            <a:ext cx="3380343" cy="2320290"/>
          </a:xfrm>
          <a:prstGeom prst="roundRect">
            <a:avLst>
              <a:gd name="adj" fmla="val 4242"/>
            </a:avLst>
          </a:prstGeom>
          <a:solidFill>
            <a:srgbClr val="FFFFFF"/>
          </a:solidFill>
          <a:ln w="6350">
            <a:solidFill>
              <a:srgbClr val="DAD8D0"/>
            </a:solidFill>
            <a:prstDash val="solid"/>
          </a:ln>
        </p:spPr>
      </p:sp>
      <p:sp>
        <p:nvSpPr>
          <p:cNvPr id="8" name="Text 6"/>
          <p:cNvSpPr/>
          <p:nvPr/>
        </p:nvSpPr>
        <p:spPr>
          <a:xfrm>
            <a:off x="4661694" y="1879600"/>
            <a:ext cx="2954589"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470F"/>
                </a:solidFill>
                <a:latin typeface="IBM Plex Sans" pitchFamily="34" charset="0"/>
                <a:ea typeface="IBM Plex Sans" pitchFamily="34" charset="-122"/>
                <a:cs typeface="IBM Plex Sans" pitchFamily="34" charset="-120"/>
              </a:rPr>
              <a:t>QUERY 07</a:t>
            </a:r>
            <a:endParaRPr lang="en-US" sz="1300" dirty="0"/>
          </a:p>
        </p:txBody>
      </p:sp>
      <p:sp>
        <p:nvSpPr>
          <p:cNvPr id="9" name="Text 7"/>
          <p:cNvSpPr/>
          <p:nvPr/>
        </p:nvSpPr>
        <p:spPr>
          <a:xfrm>
            <a:off x="4661694" y="2225039"/>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Rubik" pitchFamily="34" charset="0"/>
                <a:ea typeface="Rubik" pitchFamily="34" charset="-122"/>
                <a:cs typeface="Rubik" pitchFamily="34" charset="-120"/>
              </a:rPr>
              <a:t>What can I get for under $500K?</a:t>
            </a:r>
            <a:endParaRPr lang="en-US" sz="1800" dirty="0"/>
          </a:p>
        </p:txBody>
      </p:sp>
      <p:sp>
        <p:nvSpPr>
          <p:cNvPr id="10" name="Text 8"/>
          <p:cNvSpPr/>
          <p:nvPr/>
        </p:nvSpPr>
        <p:spPr>
          <a:xfrm>
            <a:off x="4661694" y="2887982"/>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Example: Hurco VMX42Ui, a 5-axis center at $210K with 1,067 mm of X travel.</a:t>
            </a:r>
            <a:endParaRPr lang="en-US" sz="1500" dirty="0"/>
          </a:p>
        </p:txBody>
      </p:sp>
      <p:sp>
        <p:nvSpPr>
          <p:cNvPr id="11" name="Shape 9"/>
          <p:cNvSpPr/>
          <p:nvPr/>
        </p:nvSpPr>
        <p:spPr>
          <a:xfrm>
            <a:off x="7995682" y="1623696"/>
            <a:ext cx="3380343" cy="2320290"/>
          </a:xfrm>
          <a:prstGeom prst="roundRect">
            <a:avLst>
              <a:gd name="adj" fmla="val 4242"/>
            </a:avLst>
          </a:prstGeom>
          <a:solidFill>
            <a:srgbClr val="FFFFFF"/>
          </a:solidFill>
          <a:ln w="6350">
            <a:solidFill>
              <a:srgbClr val="DAD8D0"/>
            </a:solidFill>
            <a:prstDash val="solid"/>
          </a:ln>
        </p:spPr>
      </p:sp>
      <p:sp>
        <p:nvSpPr>
          <p:cNvPr id="12" name="Text 10"/>
          <p:cNvSpPr/>
          <p:nvPr/>
        </p:nvSpPr>
        <p:spPr>
          <a:xfrm>
            <a:off x="8251587" y="1879600"/>
            <a:ext cx="2954589"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8470F"/>
                </a:solidFill>
                <a:latin typeface="IBM Plex Sans" pitchFamily="34" charset="0"/>
                <a:ea typeface="IBM Plex Sans" pitchFamily="34" charset="-122"/>
                <a:cs typeface="IBM Plex Sans" pitchFamily="34" charset="-120"/>
              </a:rPr>
              <a:t>QUERY 11</a:t>
            </a:r>
            <a:endParaRPr lang="en-US" sz="1300" dirty="0"/>
          </a:p>
        </p:txBody>
      </p:sp>
      <p:sp>
        <p:nvSpPr>
          <p:cNvPr id="13" name="Text 11"/>
          <p:cNvSpPr/>
          <p:nvPr/>
        </p:nvSpPr>
        <p:spPr>
          <a:xfrm>
            <a:off x="8251587" y="2225039"/>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Rubik" pitchFamily="34" charset="0"/>
                <a:ea typeface="Rubik" pitchFamily="34" charset="-122"/>
                <a:cs typeface="Rubik" pitchFamily="34" charset="-120"/>
              </a:rPr>
              <a:t>How trustworthy are the prices?</a:t>
            </a:r>
            <a:endParaRPr lang="en-US" sz="1800" dirty="0"/>
          </a:p>
        </p:txBody>
      </p:sp>
      <p:sp>
        <p:nvSpPr>
          <p:cNvPr id="14" name="Text 12"/>
          <p:cNvSpPr/>
          <p:nvPr/>
        </p:nvSpPr>
        <p:spPr>
          <a:xfrm>
            <a:off x="8251587" y="2887982"/>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60.5% of machines have no price, 37.4% an estimate and only 2.1% a listed price.</a:t>
            </a:r>
            <a:endParaRPr lang="en-US" sz="1500" dirty="0"/>
          </a:p>
        </p:txBody>
      </p:sp>
      <p:sp>
        <p:nvSpPr>
          <p:cNvPr id="15" name="Text 13"/>
          <p:cNvSpPr/>
          <p:nvPr/>
        </p:nvSpPr>
        <p:spPr>
          <a:xfrm>
            <a:off x="812800" y="42519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All 34 queries are read-only SELECT statements. Their results are saved in results_34.xlsx.</a:t>
            </a:r>
            <a:endParaRPr lang="en-US" sz="1500" dirty="0"/>
          </a:p>
        </p:txBody>
      </p:sp>
      <p:sp>
        <p:nvSpPr>
          <p:cNvPr id="16" name="Text 1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Source: 05_sql/results_34.txt</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Machine type sets the price level</a:t>
            </a:r>
            <a:endParaRPr lang="en-US" sz="3600" dirty="0"/>
          </a:p>
        </p:txBody>
      </p:sp>
      <p:sp>
        <p:nvSpPr>
          <p:cNvPr id="3" name="Text 1"/>
          <p:cNvSpPr/>
          <p:nvPr/>
        </p:nvSpPr>
        <p:spPr>
          <a:xfrm>
            <a:off x="723265" y="16014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CNC Boring Machines</a:t>
            </a:r>
            <a:endParaRPr lang="en-US" sz="1500" dirty="0"/>
          </a:p>
        </p:txBody>
      </p:sp>
      <p:sp>
        <p:nvSpPr>
          <p:cNvPr id="4" name="Shape 2"/>
          <p:cNvSpPr/>
          <p:nvPr/>
        </p:nvSpPr>
        <p:spPr>
          <a:xfrm>
            <a:off x="3949700" y="1569721"/>
            <a:ext cx="5715000" cy="330200"/>
          </a:xfrm>
          <a:custGeom>
            <a:avLst/>
            <a:gdLst/>
            <a:ahLst/>
            <a:cxnLst/>
            <a:rect l="l" t="t" r="r" b="b"/>
            <a:pathLst>
              <a:path w="5715000" h="330200">
                <a:moveTo>
                  <a:pt x="0" y="0"/>
                </a:moveTo>
                <a:lnTo>
                  <a:pt x="5664200" y="0"/>
                </a:lnTo>
                <a:arcTo hR="50800" wR="50800" stAng="16200000" swAng="5400000"/>
                <a:lnTo>
                  <a:pt x="5715000" y="279400"/>
                </a:lnTo>
                <a:arcTo hR="50800" wR="50800" stAng="0" swAng="5400000"/>
                <a:lnTo>
                  <a:pt x="0" y="330200"/>
                </a:lnTo>
                <a:lnTo>
                  <a:pt x="0" y="0"/>
                </a:lnTo>
                <a:close/>
              </a:path>
            </a:pathLst>
          </a:custGeom>
          <a:solidFill>
            <a:srgbClr val="2A78D6"/>
          </a:solidFill>
          <a:ln/>
        </p:spPr>
      </p:sp>
      <p:sp>
        <p:nvSpPr>
          <p:cNvPr id="5" name="Text 3"/>
          <p:cNvSpPr/>
          <p:nvPr/>
        </p:nvSpPr>
        <p:spPr>
          <a:xfrm>
            <a:off x="9817100" y="15925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$950K</a:t>
            </a:r>
            <a:endParaRPr lang="en-US" sz="1600" dirty="0"/>
          </a:p>
        </p:txBody>
      </p:sp>
      <p:sp>
        <p:nvSpPr>
          <p:cNvPr id="6" name="Text 4"/>
          <p:cNvSpPr/>
          <p:nvPr/>
        </p:nvSpPr>
        <p:spPr>
          <a:xfrm>
            <a:off x="723265" y="20586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CNC Gear Cutting</a:t>
            </a:r>
            <a:endParaRPr lang="en-US" sz="1500" dirty="0"/>
          </a:p>
        </p:txBody>
      </p:sp>
      <p:sp>
        <p:nvSpPr>
          <p:cNvPr id="7" name="Shape 5"/>
          <p:cNvSpPr/>
          <p:nvPr/>
        </p:nvSpPr>
        <p:spPr>
          <a:xfrm>
            <a:off x="3949700" y="2026921"/>
            <a:ext cx="4737100" cy="330200"/>
          </a:xfrm>
          <a:custGeom>
            <a:avLst/>
            <a:gdLst/>
            <a:ahLst/>
            <a:cxnLst/>
            <a:rect l="l" t="t" r="r" b="b"/>
            <a:pathLst>
              <a:path w="4737100" h="330200">
                <a:moveTo>
                  <a:pt x="0" y="0"/>
                </a:moveTo>
                <a:lnTo>
                  <a:pt x="4686300" y="0"/>
                </a:lnTo>
                <a:arcTo hR="50800" wR="50800" stAng="16200000" swAng="5400000"/>
                <a:lnTo>
                  <a:pt x="4737100" y="279400"/>
                </a:lnTo>
                <a:arcTo hR="50800" wR="50800" stAng="0" swAng="5400000"/>
                <a:lnTo>
                  <a:pt x="0" y="330200"/>
                </a:lnTo>
                <a:lnTo>
                  <a:pt x="0" y="0"/>
                </a:lnTo>
                <a:close/>
              </a:path>
            </a:pathLst>
          </a:custGeom>
          <a:solidFill>
            <a:srgbClr val="2A78D6"/>
          </a:solidFill>
          <a:ln/>
        </p:spPr>
      </p:sp>
      <p:sp>
        <p:nvSpPr>
          <p:cNvPr id="8" name="Text 6"/>
          <p:cNvSpPr/>
          <p:nvPr/>
        </p:nvSpPr>
        <p:spPr>
          <a:xfrm>
            <a:off x="8839200" y="20497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$788K</a:t>
            </a:r>
            <a:endParaRPr lang="en-US" sz="1600" dirty="0"/>
          </a:p>
        </p:txBody>
      </p:sp>
      <p:sp>
        <p:nvSpPr>
          <p:cNvPr id="9" name="Text 7"/>
          <p:cNvSpPr/>
          <p:nvPr/>
        </p:nvSpPr>
        <p:spPr>
          <a:xfrm>
            <a:off x="723265" y="25158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5 Axis Machining Centers</a:t>
            </a:r>
            <a:endParaRPr lang="en-US" sz="1500" dirty="0"/>
          </a:p>
        </p:txBody>
      </p:sp>
      <p:sp>
        <p:nvSpPr>
          <p:cNvPr id="10" name="Shape 8"/>
          <p:cNvSpPr/>
          <p:nvPr/>
        </p:nvSpPr>
        <p:spPr>
          <a:xfrm>
            <a:off x="3949700" y="2484121"/>
            <a:ext cx="3606800" cy="330200"/>
          </a:xfrm>
          <a:custGeom>
            <a:avLst/>
            <a:gdLst/>
            <a:ahLst/>
            <a:cxnLst/>
            <a:rect l="l" t="t" r="r" b="b"/>
            <a:pathLst>
              <a:path w="3606800" h="330200">
                <a:moveTo>
                  <a:pt x="0" y="0"/>
                </a:moveTo>
                <a:lnTo>
                  <a:pt x="3556000" y="0"/>
                </a:lnTo>
                <a:arcTo hR="50800" wR="50800" stAng="16200000" swAng="5400000"/>
                <a:lnTo>
                  <a:pt x="3606800" y="279400"/>
                </a:lnTo>
                <a:arcTo hR="50800" wR="50800" stAng="0" swAng="5400000"/>
                <a:lnTo>
                  <a:pt x="0" y="330200"/>
                </a:lnTo>
                <a:lnTo>
                  <a:pt x="0" y="0"/>
                </a:lnTo>
                <a:close/>
              </a:path>
            </a:pathLst>
          </a:custGeom>
          <a:solidFill>
            <a:srgbClr val="2A78D6"/>
          </a:solidFill>
          <a:ln/>
        </p:spPr>
      </p:sp>
      <p:sp>
        <p:nvSpPr>
          <p:cNvPr id="11" name="Text 9"/>
          <p:cNvSpPr/>
          <p:nvPr/>
        </p:nvSpPr>
        <p:spPr>
          <a:xfrm>
            <a:off x="7708900" y="25069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$600K</a:t>
            </a:r>
            <a:endParaRPr lang="en-US" sz="1600" dirty="0"/>
          </a:p>
        </p:txBody>
      </p:sp>
      <p:sp>
        <p:nvSpPr>
          <p:cNvPr id="12" name="Text 10"/>
          <p:cNvSpPr/>
          <p:nvPr/>
        </p:nvSpPr>
        <p:spPr>
          <a:xfrm>
            <a:off x="723265" y="29730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CNC Laser Cutting</a:t>
            </a:r>
            <a:endParaRPr lang="en-US" sz="1500" dirty="0"/>
          </a:p>
        </p:txBody>
      </p:sp>
      <p:sp>
        <p:nvSpPr>
          <p:cNvPr id="13" name="Shape 11"/>
          <p:cNvSpPr/>
          <p:nvPr/>
        </p:nvSpPr>
        <p:spPr>
          <a:xfrm>
            <a:off x="3949700" y="2941321"/>
            <a:ext cx="3308350" cy="330200"/>
          </a:xfrm>
          <a:custGeom>
            <a:avLst/>
            <a:gdLst/>
            <a:ahLst/>
            <a:cxnLst/>
            <a:rect l="l" t="t" r="r" b="b"/>
            <a:pathLst>
              <a:path w="3308350" h="330200">
                <a:moveTo>
                  <a:pt x="0" y="0"/>
                </a:moveTo>
                <a:lnTo>
                  <a:pt x="3257550" y="0"/>
                </a:lnTo>
                <a:arcTo hR="50800" wR="50800" stAng="16200000" swAng="5400000"/>
                <a:lnTo>
                  <a:pt x="3308350" y="279400"/>
                </a:lnTo>
                <a:arcTo hR="50800" wR="50800" stAng="0" swAng="5400000"/>
                <a:lnTo>
                  <a:pt x="0" y="330200"/>
                </a:lnTo>
                <a:lnTo>
                  <a:pt x="0" y="0"/>
                </a:lnTo>
                <a:close/>
              </a:path>
            </a:pathLst>
          </a:custGeom>
          <a:solidFill>
            <a:srgbClr val="2A78D6"/>
          </a:solidFill>
          <a:ln/>
        </p:spPr>
      </p:sp>
      <p:sp>
        <p:nvSpPr>
          <p:cNvPr id="14" name="Text 12"/>
          <p:cNvSpPr/>
          <p:nvPr/>
        </p:nvSpPr>
        <p:spPr>
          <a:xfrm>
            <a:off x="7410450" y="29641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$550K</a:t>
            </a:r>
            <a:endParaRPr lang="en-US" sz="1600" dirty="0"/>
          </a:p>
        </p:txBody>
      </p:sp>
      <p:sp>
        <p:nvSpPr>
          <p:cNvPr id="15" name="Text 13"/>
          <p:cNvSpPr/>
          <p:nvPr/>
        </p:nvSpPr>
        <p:spPr>
          <a:xfrm>
            <a:off x="723265" y="34302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CNC Grinding Machines</a:t>
            </a:r>
            <a:endParaRPr lang="en-US" sz="1500" dirty="0"/>
          </a:p>
        </p:txBody>
      </p:sp>
      <p:sp>
        <p:nvSpPr>
          <p:cNvPr id="16" name="Shape 14"/>
          <p:cNvSpPr/>
          <p:nvPr/>
        </p:nvSpPr>
        <p:spPr>
          <a:xfrm>
            <a:off x="3949700" y="3398521"/>
            <a:ext cx="2559050" cy="330200"/>
          </a:xfrm>
          <a:custGeom>
            <a:avLst/>
            <a:gdLst/>
            <a:ahLst/>
            <a:cxnLst/>
            <a:rect l="l" t="t" r="r" b="b"/>
            <a:pathLst>
              <a:path w="2559050" h="330200">
                <a:moveTo>
                  <a:pt x="0" y="0"/>
                </a:moveTo>
                <a:lnTo>
                  <a:pt x="2508250" y="0"/>
                </a:lnTo>
                <a:arcTo hR="50800" wR="50800" stAng="16200000" swAng="5400000"/>
                <a:lnTo>
                  <a:pt x="2559050" y="279400"/>
                </a:lnTo>
                <a:arcTo hR="50800" wR="50800" stAng="0" swAng="5400000"/>
                <a:lnTo>
                  <a:pt x="0" y="330200"/>
                </a:lnTo>
                <a:lnTo>
                  <a:pt x="0" y="0"/>
                </a:lnTo>
                <a:close/>
              </a:path>
            </a:pathLst>
          </a:custGeom>
          <a:solidFill>
            <a:srgbClr val="2A78D6"/>
          </a:solidFill>
          <a:ln/>
        </p:spPr>
      </p:sp>
      <p:sp>
        <p:nvSpPr>
          <p:cNvPr id="17" name="Text 15"/>
          <p:cNvSpPr/>
          <p:nvPr/>
        </p:nvSpPr>
        <p:spPr>
          <a:xfrm>
            <a:off x="6661150" y="34213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$425K</a:t>
            </a:r>
            <a:endParaRPr lang="en-US" sz="1600" dirty="0"/>
          </a:p>
        </p:txBody>
      </p:sp>
      <p:sp>
        <p:nvSpPr>
          <p:cNvPr id="18" name="Text 16"/>
          <p:cNvSpPr/>
          <p:nvPr/>
        </p:nvSpPr>
        <p:spPr>
          <a:xfrm>
            <a:off x="723265" y="3887471"/>
            <a:ext cx="3074035"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CNC Lathes</a:t>
            </a:r>
            <a:endParaRPr lang="en-US" sz="1500" dirty="0"/>
          </a:p>
        </p:txBody>
      </p:sp>
      <p:sp>
        <p:nvSpPr>
          <p:cNvPr id="19" name="Shape 17"/>
          <p:cNvSpPr/>
          <p:nvPr/>
        </p:nvSpPr>
        <p:spPr>
          <a:xfrm>
            <a:off x="3949700" y="3855721"/>
            <a:ext cx="1200150" cy="330200"/>
          </a:xfrm>
          <a:custGeom>
            <a:avLst/>
            <a:gdLst/>
            <a:ahLst/>
            <a:cxnLst/>
            <a:rect l="l" t="t" r="r" b="b"/>
            <a:pathLst>
              <a:path w="1200150" h="330200">
                <a:moveTo>
                  <a:pt x="0" y="0"/>
                </a:moveTo>
                <a:lnTo>
                  <a:pt x="1149350" y="0"/>
                </a:lnTo>
                <a:arcTo hR="50800" wR="50800" stAng="16200000" swAng="5400000"/>
                <a:lnTo>
                  <a:pt x="1200150" y="279400"/>
                </a:lnTo>
                <a:arcTo hR="50800" wR="50800" stAng="0" swAng="5400000"/>
                <a:lnTo>
                  <a:pt x="0" y="330200"/>
                </a:lnTo>
                <a:lnTo>
                  <a:pt x="0" y="0"/>
                </a:lnTo>
                <a:close/>
              </a:path>
            </a:pathLst>
          </a:custGeom>
          <a:solidFill>
            <a:srgbClr val="2A78D6"/>
          </a:solidFill>
          <a:ln/>
        </p:spPr>
      </p:sp>
      <p:sp>
        <p:nvSpPr>
          <p:cNvPr id="20" name="Text 18"/>
          <p:cNvSpPr/>
          <p:nvPr/>
        </p:nvSpPr>
        <p:spPr>
          <a:xfrm>
            <a:off x="5302250" y="3878582"/>
            <a:ext cx="7505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$200K</a:t>
            </a:r>
            <a:endParaRPr lang="en-US" sz="1600" dirty="0"/>
          </a:p>
        </p:txBody>
      </p:sp>
      <p:sp>
        <p:nvSpPr>
          <p:cNvPr id="21" name="Text 19"/>
          <p:cNvSpPr/>
          <p:nvPr/>
        </p:nvSpPr>
        <p:spPr>
          <a:xfrm>
            <a:off x="812800" y="443992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51"/>
                </a:solidFill>
                <a:latin typeface="IBM Plex Sans" pitchFamily="34" charset="0"/>
                <a:ea typeface="IBM Plex Sans" pitchFamily="34" charset="-122"/>
                <a:cs typeface="IBM Plex Sans" pitchFamily="34" charset="-120"/>
              </a:rPr>
              <a:t>Median price of the 1,564 machines with a price. A boring machine costs almost five times as much as a lathe at the median. Overall median: $375K. Mean: $647K, pulled up by a few very expensive machines.</a:t>
            </a:r>
            <a:endParaRPr lang="en-US" sz="1500" dirty="0"/>
          </a:p>
        </p:txBody>
      </p:sp>
      <p:sp>
        <p:nvSpPr>
          <p:cNvPr id="22" name="Text 20"/>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Prices are mostly website estimates · Source: SQL query 03</a:t>
            </a:r>
            <a:endParaRPr lang="en-US" sz="1200" dirty="0"/>
          </a:p>
        </p:txBody>
      </p:sp>
      <p:sp>
        <p:nvSpPr>
          <p:cNvPr id="23" name="Text 2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87266"/>
          </a:xfrm>
          <a:prstGeom prst="rect">
            <a:avLst/>
          </a:prstGeom>
          <a:noFill/>
          <a:ln/>
        </p:spPr>
        <p:txBody>
          <a:bodyPr wrap="square" lIns="0" tIns="0" rIns="0" bIns="0" rtlCol="0" anchor="t">
            <a:normAutofit/>
          </a:bodyPr>
          <a:lstStyle/>
          <a:p>
            <a:pPr algn="l" indent="0" marL="0">
              <a:lnSpc>
                <a:spcPts val="3787"/>
              </a:lnSpc>
              <a:buNone/>
            </a:pPr>
            <a:r>
              <a:rPr lang="en-US" sz="3442" b="1" i="0" dirty="0">
                <a:solidFill>
                  <a:srgbClr val="14202B"/>
                </a:solidFill>
                <a:latin typeface="Rubik" pitchFamily="34" charset="0"/>
                <a:ea typeface="Rubik" pitchFamily="34" charset="-122"/>
                <a:cs typeface="Rubik" pitchFamily="34" charset="-120"/>
              </a:rPr>
              <a:t>Size and weight track price, spindle speed does not</a:t>
            </a:r>
            <a:endParaRPr lang="en-US" sz="3442" dirty="0"/>
          </a:p>
        </p:txBody>
      </p:sp>
      <p:sp>
        <p:nvSpPr>
          <p:cNvPr id="3" name="Shape 1"/>
          <p:cNvSpPr/>
          <p:nvPr/>
        </p:nvSpPr>
        <p:spPr>
          <a:xfrm>
            <a:off x="812800" y="2028670"/>
            <a:ext cx="6096000" cy="3987800"/>
          </a:xfrm>
          <a:prstGeom prst="roundRect">
            <a:avLst>
              <a:gd name="adj" fmla="val 2548"/>
            </a:avLst>
          </a:prstGeom>
          <a:solidFill>
            <a:srgbClr val="FFFFFF"/>
          </a:solidFill>
          <a:ln/>
        </p:spPr>
      </p:sp>
      <p:pic>
        <p:nvPicPr>
          <p:cNvPr id="4" name="Image 0" descr="Scatter plots of price against X travel for each category, showing price rising with machine size">    </p:cNvPr>
          <p:cNvPicPr>
            <a:picLocks noChangeAspect="1"/>
          </p:cNvPicPr>
          <p:nvPr/>
        </p:nvPicPr>
        <p:blipFill>
          <a:blip r:embed="rId1"/>
          <a:srcRect l="-31" r="-31" t="0" b="0"/>
          <a:stretch/>
        </p:blipFill>
        <p:spPr>
          <a:xfrm>
            <a:off x="819150" y="2035020"/>
            <a:ext cx="6083300" cy="3975100"/>
          </a:xfrm>
          <a:prstGeom prst="roundRect">
            <a:avLst>
              <a:gd name="adj" fmla="val 2396"/>
            </a:avLst>
          </a:prstGeom>
        </p:spPr>
      </p:pic>
      <p:sp>
        <p:nvSpPr>
          <p:cNvPr id="5" name="Shape 2"/>
          <p:cNvSpPr/>
          <p:nvPr/>
        </p:nvSpPr>
        <p:spPr>
          <a:xfrm>
            <a:off x="815975" y="2031845"/>
            <a:ext cx="6089650" cy="3981450"/>
          </a:xfrm>
          <a:prstGeom prst="roundRect">
            <a:avLst>
              <a:gd name="adj" fmla="val 2472"/>
            </a:avLst>
          </a:prstGeom>
          <a:noFill/>
          <a:ln w="6350">
            <a:solidFill>
              <a:srgbClr val="DAD8D0"/>
            </a:solidFill>
            <a:prstDash val="solid"/>
          </a:ln>
        </p:spPr>
      </p:sp>
      <p:sp>
        <p:nvSpPr>
          <p:cNvPr id="6" name="Text 3"/>
          <p:cNvSpPr/>
          <p:nvPr/>
        </p:nvSpPr>
        <p:spPr>
          <a:xfrm>
            <a:off x="7213600" y="2028670"/>
            <a:ext cx="42905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Rubik" pitchFamily="34" charset="0"/>
                <a:ea typeface="Rubik" pitchFamily="34" charset="-122"/>
                <a:cs typeface="Rubik" pitchFamily="34" charset="-120"/>
              </a:rPr>
              <a:t>Rank correlation with price</a:t>
            </a:r>
            <a:endParaRPr lang="en-US" sz="1800" dirty="0"/>
          </a:p>
        </p:txBody>
      </p:sp>
      <p:sp>
        <p:nvSpPr>
          <p:cNvPr id="7" name="Text 4"/>
          <p:cNvSpPr/>
          <p:nvPr/>
        </p:nvSpPr>
        <p:spPr>
          <a:xfrm>
            <a:off x="7213600" y="24807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X travel: </a:t>
            </a:r>
            <a:r>
              <a:rPr lang="en-US" sz="1500" b="1" dirty="0">
                <a:solidFill>
                  <a:srgbClr val="14202B"/>
                </a:solidFill>
                <a:latin typeface="IBM Plex Sans" pitchFamily="34" charset="0"/>
                <a:ea typeface="IBM Plex Sans" pitchFamily="34" charset="-122"/>
                <a:cs typeface="IBM Plex Sans" pitchFamily="34" charset="-120"/>
              </a:rPr>
              <a:t>0.75</a:t>
            </a:r>
            <a:endParaRPr lang="en-US" sz="1500" dirty="0"/>
          </a:p>
        </p:txBody>
      </p:sp>
      <p:sp>
        <p:nvSpPr>
          <p:cNvPr id="8" name="Shape 5"/>
          <p:cNvSpPr/>
          <p:nvPr/>
        </p:nvSpPr>
        <p:spPr>
          <a:xfrm>
            <a:off x="7213600" y="2798285"/>
            <a:ext cx="3403600" cy="139700"/>
          </a:xfrm>
          <a:custGeom>
            <a:avLst/>
            <a:gdLst/>
            <a:ahLst/>
            <a:cxnLst/>
            <a:rect l="l" t="t" r="r" b="b"/>
            <a:pathLst>
              <a:path w="3403600" h="139700">
                <a:moveTo>
                  <a:pt x="0" y="0"/>
                </a:moveTo>
                <a:lnTo>
                  <a:pt x="3365500" y="0"/>
                </a:lnTo>
                <a:arcTo hR="38100" wR="38100" stAng="16200000" swAng="5400000"/>
                <a:lnTo>
                  <a:pt x="3403600" y="101600"/>
                </a:lnTo>
                <a:arcTo hR="38100" wR="38100" stAng="0" swAng="5400000"/>
                <a:lnTo>
                  <a:pt x="0" y="139700"/>
                </a:lnTo>
                <a:lnTo>
                  <a:pt x="0" y="0"/>
                </a:lnTo>
                <a:close/>
              </a:path>
            </a:pathLst>
          </a:custGeom>
          <a:solidFill>
            <a:srgbClr val="2A78D6"/>
          </a:solidFill>
          <a:ln/>
        </p:spPr>
      </p:sp>
      <p:sp>
        <p:nvSpPr>
          <p:cNvPr id="9" name="Text 6"/>
          <p:cNvSpPr/>
          <p:nvPr/>
        </p:nvSpPr>
        <p:spPr>
          <a:xfrm>
            <a:off x="7213600" y="31157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Machine weight: </a:t>
            </a:r>
            <a:r>
              <a:rPr lang="en-US" sz="1500" b="1" dirty="0">
                <a:solidFill>
                  <a:srgbClr val="14202B"/>
                </a:solidFill>
                <a:latin typeface="IBM Plex Sans" pitchFamily="34" charset="0"/>
                <a:ea typeface="IBM Plex Sans" pitchFamily="34" charset="-122"/>
                <a:cs typeface="IBM Plex Sans" pitchFamily="34" charset="-120"/>
              </a:rPr>
              <a:t>0.74</a:t>
            </a:r>
            <a:endParaRPr lang="en-US" sz="1500" dirty="0"/>
          </a:p>
        </p:txBody>
      </p:sp>
      <p:sp>
        <p:nvSpPr>
          <p:cNvPr id="10" name="Shape 7"/>
          <p:cNvSpPr/>
          <p:nvPr/>
        </p:nvSpPr>
        <p:spPr>
          <a:xfrm>
            <a:off x="7213600" y="3433285"/>
            <a:ext cx="3359150" cy="139700"/>
          </a:xfrm>
          <a:custGeom>
            <a:avLst/>
            <a:gdLst/>
            <a:ahLst/>
            <a:cxnLst/>
            <a:rect l="l" t="t" r="r" b="b"/>
            <a:pathLst>
              <a:path w="3359150" h="139700">
                <a:moveTo>
                  <a:pt x="0" y="0"/>
                </a:moveTo>
                <a:lnTo>
                  <a:pt x="3321050" y="0"/>
                </a:lnTo>
                <a:arcTo hR="38100" wR="38100" stAng="16200000" swAng="5400000"/>
                <a:lnTo>
                  <a:pt x="3359150" y="101600"/>
                </a:lnTo>
                <a:arcTo hR="38100" wR="38100" stAng="0" swAng="5400000"/>
                <a:lnTo>
                  <a:pt x="0" y="139700"/>
                </a:lnTo>
                <a:lnTo>
                  <a:pt x="0" y="0"/>
                </a:lnTo>
                <a:close/>
              </a:path>
            </a:pathLst>
          </a:custGeom>
          <a:solidFill>
            <a:srgbClr val="2A78D6"/>
          </a:solidFill>
          <a:ln/>
        </p:spPr>
      </p:sp>
      <p:sp>
        <p:nvSpPr>
          <p:cNvPr id="11" name="Text 8"/>
          <p:cNvSpPr/>
          <p:nvPr/>
        </p:nvSpPr>
        <p:spPr>
          <a:xfrm>
            <a:off x="7213600" y="37507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Spindle power: </a:t>
            </a:r>
            <a:r>
              <a:rPr lang="en-US" sz="1500" b="1" dirty="0">
                <a:solidFill>
                  <a:srgbClr val="14202B"/>
                </a:solidFill>
                <a:latin typeface="IBM Plex Sans" pitchFamily="34" charset="0"/>
                <a:ea typeface="IBM Plex Sans" pitchFamily="34" charset="-122"/>
                <a:cs typeface="IBM Plex Sans" pitchFamily="34" charset="-120"/>
              </a:rPr>
              <a:t>0.57</a:t>
            </a:r>
            <a:endParaRPr lang="en-US" sz="1500" dirty="0"/>
          </a:p>
        </p:txBody>
      </p:sp>
      <p:sp>
        <p:nvSpPr>
          <p:cNvPr id="12" name="Shape 9"/>
          <p:cNvSpPr/>
          <p:nvPr/>
        </p:nvSpPr>
        <p:spPr>
          <a:xfrm>
            <a:off x="7213600" y="4068285"/>
            <a:ext cx="2584450" cy="139700"/>
          </a:xfrm>
          <a:custGeom>
            <a:avLst/>
            <a:gdLst/>
            <a:ahLst/>
            <a:cxnLst/>
            <a:rect l="l" t="t" r="r" b="b"/>
            <a:pathLst>
              <a:path w="2584450" h="139700">
                <a:moveTo>
                  <a:pt x="0" y="0"/>
                </a:moveTo>
                <a:lnTo>
                  <a:pt x="2546350" y="0"/>
                </a:lnTo>
                <a:arcTo hR="38100" wR="38100" stAng="16200000" swAng="5400000"/>
                <a:lnTo>
                  <a:pt x="2584450" y="101600"/>
                </a:lnTo>
                <a:arcTo hR="38100" wR="38100" stAng="0" swAng="5400000"/>
                <a:lnTo>
                  <a:pt x="0" y="139700"/>
                </a:lnTo>
                <a:lnTo>
                  <a:pt x="0" y="0"/>
                </a:lnTo>
                <a:close/>
              </a:path>
            </a:pathLst>
          </a:custGeom>
          <a:solidFill>
            <a:srgbClr val="2A78D6"/>
          </a:solidFill>
          <a:ln/>
        </p:spPr>
      </p:sp>
      <p:sp>
        <p:nvSpPr>
          <p:cNvPr id="13" name="Text 10"/>
          <p:cNvSpPr/>
          <p:nvPr/>
        </p:nvSpPr>
        <p:spPr>
          <a:xfrm>
            <a:off x="7213600" y="43857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Max spindle speed: </a:t>
            </a:r>
            <a:r>
              <a:rPr lang="en-US" sz="1500" b="1" dirty="0">
                <a:solidFill>
                  <a:srgbClr val="14202B"/>
                </a:solidFill>
                <a:latin typeface="IBM Plex Sans" pitchFamily="34" charset="0"/>
                <a:ea typeface="IBM Plex Sans" pitchFamily="34" charset="-122"/>
                <a:cs typeface="IBM Plex Sans" pitchFamily="34" charset="-120"/>
              </a:rPr>
              <a:t>0.34</a:t>
            </a:r>
            <a:endParaRPr lang="en-US" sz="1500" dirty="0"/>
          </a:p>
        </p:txBody>
      </p:sp>
      <p:sp>
        <p:nvSpPr>
          <p:cNvPr id="14" name="Shape 11"/>
          <p:cNvSpPr/>
          <p:nvPr/>
        </p:nvSpPr>
        <p:spPr>
          <a:xfrm>
            <a:off x="7213600" y="4703285"/>
            <a:ext cx="1543050" cy="139700"/>
          </a:xfrm>
          <a:custGeom>
            <a:avLst/>
            <a:gdLst/>
            <a:ahLst/>
            <a:cxnLst/>
            <a:rect l="l" t="t" r="r" b="b"/>
            <a:pathLst>
              <a:path w="1543050" h="139700">
                <a:moveTo>
                  <a:pt x="0" y="0"/>
                </a:moveTo>
                <a:lnTo>
                  <a:pt x="1504950" y="0"/>
                </a:lnTo>
                <a:arcTo hR="38100" wR="38100" stAng="16200000" swAng="5400000"/>
                <a:lnTo>
                  <a:pt x="1543050" y="101600"/>
                </a:lnTo>
                <a:arcTo hR="38100" wR="38100" stAng="0" swAng="5400000"/>
                <a:lnTo>
                  <a:pt x="0" y="139700"/>
                </a:lnTo>
                <a:lnTo>
                  <a:pt x="0" y="0"/>
                </a:lnTo>
                <a:close/>
              </a:path>
            </a:pathLst>
          </a:custGeom>
          <a:solidFill>
            <a:srgbClr val="2A78D6"/>
          </a:solidFill>
          <a:ln/>
        </p:spPr>
      </p:sp>
      <p:sp>
        <p:nvSpPr>
          <p:cNvPr id="15" name="Text 12"/>
          <p:cNvSpPr/>
          <p:nvPr/>
        </p:nvSpPr>
        <p:spPr>
          <a:xfrm>
            <a:off x="7213600" y="5020785"/>
            <a:ext cx="429056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651"/>
                </a:solidFill>
                <a:latin typeface="IBM Plex Sans" pitchFamily="34" charset="0"/>
                <a:ea typeface="IBM Plex Sans" pitchFamily="34" charset="-122"/>
                <a:cs typeface="IBM Plex Sans" pitchFamily="34" charset="-120"/>
              </a:rPr>
              <a:t>1.0 means price rises in step with the measure.</a:t>
            </a:r>
            <a:endParaRPr lang="en-US" sz="1300" dirty="0"/>
          </a:p>
        </p:txBody>
      </p:sp>
      <p:sp>
        <p:nvSpPr>
          <p:cNvPr id="16" name="Text 1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Blue = estimated price, orange = listed price · Source: machines_final.csv</a:t>
            </a:r>
            <a:endParaRPr lang="en-US" sz="1200" dirty="0"/>
          </a:p>
        </p:txBody>
      </p:sp>
      <p:sp>
        <p:nvSpPr>
          <p:cNvPr id="17"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0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4EF"/>
                </a:solidFill>
                <a:latin typeface="Rubik" pitchFamily="34" charset="0"/>
                <a:ea typeface="Rubik" pitchFamily="34" charset="-122"/>
                <a:cs typeface="Rubik" pitchFamily="34" charset="-120"/>
              </a:rPr>
              <a:t>The dashboard: a shortlist by budget and size</a:t>
            </a:r>
            <a:endParaRPr lang="en-US" sz="3600" dirty="0"/>
          </a:p>
        </p:txBody>
      </p:sp>
      <p:sp>
        <p:nvSpPr>
          <p:cNvPr id="3" name="Shape 1"/>
          <p:cNvSpPr/>
          <p:nvPr/>
        </p:nvSpPr>
        <p:spPr>
          <a:xfrm>
            <a:off x="812800" y="1569721"/>
            <a:ext cx="5461000" cy="4038600"/>
          </a:xfrm>
          <a:prstGeom prst="roundRect">
            <a:avLst>
              <a:gd name="adj" fmla="val 2516"/>
            </a:avLst>
          </a:prstGeom>
          <a:solidFill>
            <a:srgbClr val="FFFFFF"/>
          </a:solidFill>
          <a:ln/>
        </p:spPr>
      </p:sp>
      <p:pic>
        <p:nvPicPr>
          <p:cNvPr id="4" name="Image 0" descr="Machine Finder dashboard showing a shortlist of machines between $100K and $500K with price, travel and weight columns">    </p:cNvPr>
          <p:cNvPicPr>
            <a:picLocks noChangeAspect="1"/>
          </p:cNvPicPr>
          <p:nvPr/>
        </p:nvPicPr>
        <p:blipFill>
          <a:blip r:embed="rId1"/>
          <a:srcRect l="-7" r="-7" t="0" b="0"/>
          <a:stretch/>
        </p:blipFill>
        <p:spPr>
          <a:xfrm>
            <a:off x="812800" y="1569721"/>
            <a:ext cx="5461000" cy="4038600"/>
          </a:xfrm>
          <a:prstGeom prst="roundRect">
            <a:avLst>
              <a:gd name="adj" fmla="val 2516"/>
            </a:avLst>
          </a:prstGeom>
        </p:spPr>
      </p:pic>
      <p:sp>
        <p:nvSpPr>
          <p:cNvPr id="5" name="Text 2"/>
          <p:cNvSpPr/>
          <p:nvPr/>
        </p:nvSpPr>
        <p:spPr>
          <a:xfrm>
            <a:off x="6629400" y="1569721"/>
            <a:ext cx="489229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EAF0"/>
                </a:solidFill>
                <a:latin typeface="IBM Plex Sans" pitchFamily="34" charset="0"/>
                <a:ea typeface="IBM Plex Sans" pitchFamily="34" charset="-122"/>
                <a:cs typeface="IBM Plex Sans" pitchFamily="34" charset="-120"/>
              </a:rPr>
              <a:t>Filter</a:t>
            </a:r>
            <a:r>
              <a:rPr lang="en-US" sz="1600" dirty="0">
                <a:solidFill>
                  <a:srgbClr val="E4EAF0"/>
                </a:solidFill>
                <a:latin typeface="IBM Plex Sans" pitchFamily="34" charset="0"/>
                <a:ea typeface="IBM Plex Sans" pitchFamily="34" charset="-122"/>
                <a:cs typeface="IBM Plex Sans" pitchFamily="34" charset="-120"/>
              </a:rPr>
              <a:t> by category, manufacturer, budget and minimum travel.</a:t>
            </a:r>
            <a:endParaRPr lang="en-US" sz="1600" dirty="0"/>
          </a:p>
        </p:txBody>
      </p:sp>
      <p:sp>
        <p:nvSpPr>
          <p:cNvPr id="6" name="Text 3"/>
          <p:cNvSpPr/>
          <p:nvPr/>
        </p:nvSpPr>
        <p:spPr>
          <a:xfrm>
            <a:off x="6629400" y="2316479"/>
            <a:ext cx="489229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EAF0"/>
                </a:solidFill>
                <a:latin typeface="IBM Plex Sans" pitchFamily="34" charset="0"/>
                <a:ea typeface="IBM Plex Sans" pitchFamily="34" charset="-122"/>
                <a:cs typeface="IBM Plex Sans" pitchFamily="34" charset="-120"/>
              </a:rPr>
              <a:t>Rank</a:t>
            </a:r>
            <a:r>
              <a:rPr lang="en-US" sz="1600" dirty="0">
                <a:solidFill>
                  <a:srgbClr val="E4EAF0"/>
                </a:solidFill>
                <a:latin typeface="IBM Plex Sans" pitchFamily="34" charset="0"/>
                <a:ea typeface="IBM Plex Sans" pitchFamily="34" charset="-122"/>
                <a:cs typeface="IBM Plex Sans" pitchFamily="34" charset="-120"/>
              </a:rPr>
              <a:t> the shortlist, for example closest to your budget.</a:t>
            </a:r>
            <a:endParaRPr lang="en-US" sz="1600" dirty="0"/>
          </a:p>
        </p:txBody>
      </p:sp>
      <p:sp>
        <p:nvSpPr>
          <p:cNvPr id="7" name="Text 4"/>
          <p:cNvSpPr/>
          <p:nvPr/>
        </p:nvSpPr>
        <p:spPr>
          <a:xfrm>
            <a:off x="6629400" y="3063242"/>
            <a:ext cx="5562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EAF0"/>
                </a:solidFill>
                <a:latin typeface="IBM Plex Sans" pitchFamily="34" charset="0"/>
                <a:ea typeface="IBM Plex Sans" pitchFamily="34" charset="-122"/>
                <a:cs typeface="IBM Plex Sans" pitchFamily="34" charset="-120"/>
              </a:rPr>
              <a:t>Compare</a:t>
            </a:r>
            <a:r>
              <a:rPr lang="en-US" sz="1600" dirty="0">
                <a:solidFill>
                  <a:srgbClr val="E4EAF0"/>
                </a:solidFill>
                <a:latin typeface="IBM Plex Sans" pitchFamily="34" charset="0"/>
                <a:ea typeface="IBM Plex Sans" pitchFamily="34" charset="-122"/>
                <a:cs typeface="IBM Plex Sans" pitchFamily="34" charset="-120"/>
              </a:rPr>
              <a:t> prices by category and price against size.</a:t>
            </a:r>
            <a:endParaRPr lang="en-US" sz="1600" dirty="0"/>
          </a:p>
        </p:txBody>
      </p:sp>
      <p:sp>
        <p:nvSpPr>
          <p:cNvPr id="8" name="Text 5"/>
          <p:cNvSpPr/>
          <p:nvPr/>
        </p:nvSpPr>
        <p:spPr>
          <a:xfrm>
            <a:off x="6629400" y="3525521"/>
            <a:ext cx="489229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EAF0"/>
                </a:solidFill>
                <a:latin typeface="IBM Plex Sans" pitchFamily="34" charset="0"/>
                <a:ea typeface="IBM Plex Sans" pitchFamily="34" charset="-122"/>
                <a:cs typeface="IBM Plex Sans" pitchFamily="34" charset="-120"/>
              </a:rPr>
              <a:t>Trust</a:t>
            </a:r>
            <a:r>
              <a:rPr lang="en-US" sz="1600" dirty="0">
                <a:solidFill>
                  <a:srgbClr val="E4EAF0"/>
                </a:solidFill>
                <a:latin typeface="IBM Plex Sans" pitchFamily="34" charset="0"/>
                <a:ea typeface="IBM Plex Sans" pitchFamily="34" charset="-122"/>
                <a:cs typeface="IBM Plex Sans" pitchFamily="34" charset="-120"/>
              </a:rPr>
              <a:t> the result: every page says most prices are estimates.</a:t>
            </a:r>
            <a:endParaRPr lang="en-US" sz="1600" dirty="0"/>
          </a:p>
        </p:txBody>
      </p:sp>
      <p:sp>
        <p:nvSpPr>
          <p:cNvPr id="9" name="Text 6"/>
          <p:cNvSpPr/>
          <p:nvPr/>
        </p:nvSpPr>
        <p:spPr>
          <a:xfrm>
            <a:off x="6629400" y="4272279"/>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BF"/>
                </a:solidFill>
                <a:latin typeface="IBM Plex Sans" pitchFamily="34" charset="0"/>
                <a:ea typeface="IBM Plex Sans" pitchFamily="34" charset="-122"/>
                <a:cs typeface="IBM Plex Sans" pitchFamily="34" charset="-120"/>
              </a:rPr>
              <a:t>Built with Streamlit on machines_final.csv.</a:t>
            </a:r>
            <a:endParaRPr lang="en-US" sz="1400" dirty="0"/>
          </a:p>
        </p:txBody>
      </p:sp>
      <p:sp>
        <p:nvSpPr>
          <p:cNvPr id="10" name="Text 7"/>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F"/>
                </a:solidFill>
                <a:latin typeface="IBM Plex Sans" pitchFamily="34" charset="0"/>
                <a:ea typeface="IBM Plex Sans" pitchFamily="34" charset="-122"/>
                <a:cs typeface="IBM Plex Sans" pitchFamily="34" charset="-120"/>
              </a:rPr>
              <a:t>CNC Machine Finder · Run: streamlit run 09_dashboard/app.py</a:t>
            </a:r>
            <a:endParaRPr lang="en-US" sz="1200" dirty="0"/>
          </a:p>
        </p:txBody>
      </p:sp>
      <p:sp>
        <p:nvSpPr>
          <p:cNvPr id="11" name="Text 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BF"/>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B"/>
                </a:solidFill>
                <a:latin typeface="Rubik" pitchFamily="34" charset="0"/>
                <a:ea typeface="Rubik" pitchFamily="34" charset="-122"/>
                <a:cs typeface="Rubik" pitchFamily="34" charset="-120"/>
              </a:rPr>
              <a:t>Limits and next steps</a:t>
            </a:r>
            <a:endParaRPr lang="en-US" sz="3600" dirty="0"/>
          </a:p>
        </p:txBody>
      </p:sp>
      <p:sp>
        <p:nvSpPr>
          <p:cNvPr id="3" name="Shape 1"/>
          <p:cNvSpPr/>
          <p:nvPr/>
        </p:nvSpPr>
        <p:spPr>
          <a:xfrm>
            <a:off x="815975" y="1674496"/>
            <a:ext cx="5175250" cy="2833370"/>
          </a:xfrm>
          <a:prstGeom prst="roundRect">
            <a:avLst>
              <a:gd name="adj" fmla="val 3474"/>
            </a:avLst>
          </a:prstGeom>
          <a:solidFill>
            <a:srgbClr val="FFFFFF"/>
          </a:solidFill>
          <a:ln w="6350">
            <a:solidFill>
              <a:srgbClr val="DAD8D0"/>
            </a:solidFill>
            <a:prstDash val="solid"/>
          </a:ln>
        </p:spPr>
      </p:sp>
      <p:sp>
        <p:nvSpPr>
          <p:cNvPr id="4" name="Text 2"/>
          <p:cNvSpPr/>
          <p:nvPr/>
        </p:nvSpPr>
        <p:spPr>
          <a:xfrm>
            <a:off x="1122680" y="1981200"/>
            <a:ext cx="469869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470F"/>
                </a:solidFill>
                <a:latin typeface="Rubik" pitchFamily="34" charset="0"/>
                <a:ea typeface="Rubik" pitchFamily="34" charset="-122"/>
                <a:cs typeface="Rubik" pitchFamily="34" charset="-120"/>
              </a:rPr>
              <a:t>Limits</a:t>
            </a:r>
            <a:endParaRPr lang="en-US" sz="2200" dirty="0"/>
          </a:p>
        </p:txBody>
      </p:sp>
      <p:sp>
        <p:nvSpPr>
          <p:cNvPr id="5" name="Text 3"/>
          <p:cNvSpPr/>
          <p:nvPr/>
        </p:nvSpPr>
        <p:spPr>
          <a:xfrm>
            <a:off x="1180338" y="2494279"/>
            <a:ext cx="4633417" cy="17322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Only 6 of the website’s 19 categories were collected.</a:t>
            </a:r>
            <a:endParaRPr lang="en-US" sz="1600" dirty="0"/>
          </a:p>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60% of machines have no price, and 95% of the prices that exist are estimates.</a:t>
            </a:r>
            <a:endParaRPr lang="en-US" sz="1600" dirty="0"/>
          </a:p>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Specs the website does not publish stay empty, so size filters skip those machines.</a:t>
            </a:r>
            <a:endParaRPr lang="en-US" sz="1600" dirty="0"/>
          </a:p>
        </p:txBody>
      </p:sp>
      <p:sp>
        <p:nvSpPr>
          <p:cNvPr id="6" name="Shape 4"/>
          <p:cNvSpPr/>
          <p:nvPr/>
        </p:nvSpPr>
        <p:spPr>
          <a:xfrm>
            <a:off x="6200775" y="1674496"/>
            <a:ext cx="5175250" cy="2833370"/>
          </a:xfrm>
          <a:prstGeom prst="roundRect">
            <a:avLst>
              <a:gd name="adj" fmla="val 3474"/>
            </a:avLst>
          </a:prstGeom>
          <a:solidFill>
            <a:srgbClr val="FFFFFF"/>
          </a:solidFill>
          <a:ln w="6350">
            <a:solidFill>
              <a:srgbClr val="DAD8D0"/>
            </a:solidFill>
            <a:prstDash val="solid"/>
          </a:ln>
        </p:spPr>
      </p:sp>
      <p:sp>
        <p:nvSpPr>
          <p:cNvPr id="7" name="Text 5"/>
          <p:cNvSpPr/>
          <p:nvPr/>
        </p:nvSpPr>
        <p:spPr>
          <a:xfrm>
            <a:off x="6507480" y="1981200"/>
            <a:ext cx="469869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5CAB"/>
                </a:solidFill>
                <a:latin typeface="Rubik" pitchFamily="34" charset="0"/>
                <a:ea typeface="Rubik" pitchFamily="34" charset="-122"/>
                <a:cs typeface="Rubik" pitchFamily="34" charset="-120"/>
              </a:rPr>
              <a:t>Next steps</a:t>
            </a:r>
            <a:endParaRPr lang="en-US" sz="2200" dirty="0"/>
          </a:p>
        </p:txBody>
      </p:sp>
      <p:sp>
        <p:nvSpPr>
          <p:cNvPr id="8" name="Text 6"/>
          <p:cNvSpPr/>
          <p:nvPr/>
        </p:nvSpPr>
        <p:spPr>
          <a:xfrm>
            <a:off x="6565138" y="2494279"/>
            <a:ext cx="4633417" cy="17322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Collect the remaining 13 categories, about 4,800 more machines.</a:t>
            </a:r>
            <a:endParaRPr lang="en-US" sz="1600" dirty="0"/>
          </a:p>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Add a second price source, such as real quotes or used-machine sales.</a:t>
            </a:r>
            <a:endParaRPr lang="en-US" sz="1600" dirty="0"/>
          </a:p>
          <a:p>
            <a:pPr algn="l" marL="196342" indent="-196342">
              <a:lnSpc>
                <a:spcPts val="2240"/>
              </a:lnSpc>
              <a:buSzPct val="100000"/>
              <a:buChar char="•"/>
            </a:pPr>
            <a:r>
              <a:rPr lang="en-US" sz="1600" dirty="0">
                <a:solidFill>
                  <a:srgbClr val="3B4651"/>
                </a:solidFill>
                <a:latin typeface="IBM Plex Sans" pitchFamily="34" charset="0"/>
                <a:ea typeface="IBM Plex Sans" pitchFamily="34" charset="-122"/>
                <a:cs typeface="IBM Plex Sans" pitchFamily="34" charset="-120"/>
              </a:rPr>
              <a:t>Train a model that predicts price from category and size.</a:t>
            </a:r>
            <a:endParaRPr lang="en-US" sz="1600" dirty="0"/>
          </a:p>
        </p:txBody>
      </p:sp>
      <p:sp>
        <p:nvSpPr>
          <p:cNvPr id="9" name="Text 7"/>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CNC Machine Finder · Source: 03_cleaning/cleaning_report.csv</a:t>
            </a:r>
            <a:endParaRPr lang="en-US" sz="1200" dirty="0"/>
          </a:p>
        </p:txBody>
      </p:sp>
      <p:sp>
        <p:nvSpPr>
          <p:cNvPr id="10" name="Text 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2B"/>
        </a:solidFill>
      </p:bgPr>
    </p:bg>
    <p:spTree>
      <p:nvGrpSpPr>
        <p:cNvPr id="1" name=""/>
        <p:cNvGrpSpPr/>
        <p:nvPr/>
      </p:nvGrpSpPr>
      <p:grpSpPr>
        <a:xfrm>
          <a:off x="0" y="0"/>
          <a:ext cx="0" cy="0"/>
          <a:chOff x="0" y="0"/>
          <a:chExt cx="0" cy="0"/>
        </a:xfrm>
      </p:grpSpPr>
      <p:sp>
        <p:nvSpPr>
          <p:cNvPr id="2" name="Text 0"/>
          <p:cNvSpPr/>
          <p:nvPr>
            <p:ph type="title"/>
          </p:nvPr>
        </p:nvSpPr>
        <p:spPr>
          <a:xfrm>
            <a:off x="812800" y="2181864"/>
            <a:ext cx="10883392" cy="932180"/>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5F4EF"/>
                </a:solidFill>
                <a:latin typeface="Rubik" pitchFamily="34" charset="0"/>
                <a:ea typeface="Rubik" pitchFamily="34" charset="-122"/>
                <a:cs typeface="Rubik" pitchFamily="34" charset="-120"/>
              </a:rPr>
              <a:t>Questions?</a:t>
            </a:r>
            <a:endParaRPr lang="en-US" sz="6800" dirty="0"/>
          </a:p>
        </p:txBody>
      </p:sp>
      <p:sp>
        <p:nvSpPr>
          <p:cNvPr id="3" name="Text 1"/>
          <p:cNvSpPr/>
          <p:nvPr/>
        </p:nvSpPr>
        <p:spPr>
          <a:xfrm>
            <a:off x="812800" y="3393442"/>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DC"/>
                </a:solidFill>
                <a:latin typeface="IBM Plex Sans" pitchFamily="34" charset="0"/>
                <a:ea typeface="IBM Plex Sans" pitchFamily="34" charset="-122"/>
                <a:cs typeface="IBM Plex Sans" pitchFamily="34" charset="-120"/>
              </a:rPr>
              <a:t>3,955 machines · 34 SQL queries · 1 dashboard that turns a budget into a shortlist.</a:t>
            </a:r>
            <a:endParaRPr lang="en-US" sz="2000" dirty="0"/>
          </a:p>
        </p:txBody>
      </p:sp>
      <p:sp>
        <p:nvSpPr>
          <p:cNvPr id="4" name="Text 2"/>
          <p:cNvSpPr/>
          <p:nvPr/>
        </p:nvSpPr>
        <p:spPr>
          <a:xfrm>
            <a:off x="812800" y="4409442"/>
            <a:ext cx="9156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FB0BF"/>
                </a:solidFill>
                <a:latin typeface="IBM Plex Sans" pitchFamily="34" charset="0"/>
                <a:ea typeface="IBM Plex Sans" pitchFamily="34" charset="-122"/>
                <a:cs typeface="IBM Plex Sans" pitchFamily="34" charset="-120"/>
              </a:rPr>
              <a:t>Everything re-runs from the raw data: scraper, cleaning scripts, database, notebook and dashboard.</a:t>
            </a:r>
            <a:endParaRPr lang="en-US" sz="1500" dirty="0"/>
          </a:p>
        </p:txBody>
      </p:sp>
    </p:spTree>
  </p:cSld>
  <p:clrMapOvr>
    <a:masterClrMapping/>
  </p:clrMapOvr>
</p:sld>
</file>

<file path=ppt/theme/theme1.xml><?xml version="1.0" encoding="utf-8"?>
<a:theme xmlns:a="http://schemas.openxmlformats.org/drawingml/2006/main" name="CNC Machine Finder">
  <a:themeElements>
    <a:clrScheme name="CNC Machine Finder">
      <a:dk1>
        <a:srgbClr val="14202B"/>
      </a:dk1>
      <a:lt1>
        <a:srgbClr val="F5F4EF"/>
      </a:lt1>
      <a:dk2>
        <a:srgbClr val="4C555C"/>
      </a:dk2>
      <a:lt2>
        <a:srgbClr val="DFDFDB"/>
      </a:lt2>
      <a:accent1>
        <a:srgbClr val="2A78D6"/>
      </a:accent1>
      <a:accent2>
        <a:srgbClr val="1C5CAB"/>
      </a:accent2>
      <a:accent3>
        <a:srgbClr val="B8470F"/>
      </a:accent3>
      <a:accent4>
        <a:srgbClr val="CFE0F6"/>
      </a:accent4>
      <a:accent5>
        <a:srgbClr val="F08A5D"/>
      </a:accent5>
      <a:accent6>
        <a:srgbClr val="3B4651"/>
      </a:accent6>
      <a:hlink>
        <a:srgbClr val="0563C1"/>
      </a:hlink>
      <a:folHlink>
        <a:srgbClr val="954F72"/>
      </a:folHlink>
    </a:clrScheme>
    <a:fontScheme name="CNC Machine Finder">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CNC Machine Finder</dc:title>
  <dc:subject/>
  <dc:creator/>
  <cp:lastModifiedBy/>
  <cp:revision>1</cp:revision>
  <dcterms:created xsi:type="dcterms:W3CDTF">2026-10-15T02:02:18Z</dcterms:created>
  <dcterms:modified xsi:type="dcterms:W3CDTF">2026-10-15T02:02:18Z</dcterms:modified>
</cp:coreProperties>
</file>